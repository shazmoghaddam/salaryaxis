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</a:t>
            </a:r>
            <a:pPr algn="l" indent="0" marL="0">
              <a:buNone/>
            </a:pPr>
            <a:r>
              <a:rPr lang="en-US" sz="5200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UK's salary intelligence platform,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official open data.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657600" cy="0"/>
          </a:xfrm>
          <a:prstGeom prst="line">
            <a:avLst/>
          </a:prstGeom>
          <a:noFill/>
          <a:ln w="19050">
            <a:solidFill>
              <a:srgbClr val="7C6F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ASHE · Adzuna Live Data · 9 Occupations · 11 UK Regions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Shaz Moghaddam  ·  London, UK  ·  linkedin.com/in/shazmoghaddam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731520"/>
            <a:ext cx="1463040" cy="3657600"/>
          </a:xfrm>
          <a:prstGeom prst="rect">
            <a:avLst/>
          </a:prstGeom>
          <a:solidFill>
            <a:srgbClr val="1E4F8C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280160"/>
            <a:ext cx="1097280" cy="2560320"/>
          </a:xfrm>
          <a:prstGeom prst="rect">
            <a:avLst/>
          </a:prstGeom>
          <a:solidFill>
            <a:srgbClr val="7C6FC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data exists. Pay transparency doesn't.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81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are in the dark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928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don't know if they're underpaid. Salary surveys are expensive, outdated, or locked behind paywalls.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17320"/>
            <a:ext cx="54864" cy="132588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581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rely on gut feel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8928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affordable benchmarking tools, smaller organisations set pay based on intuition rather than evidence.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132588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90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pay gaps persist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companies must report their pay gap but have no easy way to benchmark it against industry standards.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26080"/>
            <a:ext cx="54864" cy="132588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090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is one-sided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know market rates. Candidates typically don't. The information asymmetry costs workers thousands per year.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SalaryAxis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UK salary benchmarking and pay equity platform that combines official ONS government data with live Adzuna job market listings — giving individuals and organisations the salary intelligence they need to make confident, evidence-based pay decisions.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06040" cy="2103120"/>
          </a:xfrm>
          <a:prstGeom prst="rect">
            <a:avLst/>
          </a:prstGeom>
          <a:solidFill>
            <a:srgbClr val="1E4F8C">
              <a:alpha val="20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2606040" cy="64008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ASHE — UK government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earnings survey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2606040" cy="2103120"/>
          </a:xfrm>
          <a:prstGeom prst="rect">
            <a:avLst/>
          </a:prstGeom>
          <a:solidFill>
            <a:srgbClr val="7C6FCD">
              <a:alpha val="20000"/>
            </a:srgbClr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606040"/>
            <a:ext cx="2606040" cy="64008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743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 — 250,000+ UK job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updated daily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06040" cy="210312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606040"/>
            <a:ext cx="26060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743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verdicts,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briefs, reports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platform.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01168" cy="201168"/>
          </a:xfrm>
          <a:prstGeom prst="ellipse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764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20574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+ Adzuna side-by-side. Fair salary range with underpaid / fair / above market verdict.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508760"/>
            <a:ext cx="201168" cy="201168"/>
          </a:xfrm>
          <a:prstGeom prst="ellipse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764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Negotiation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8416" y="20574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evidence-backed brief with ONS figures and talking points ready to use.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53328" y="13258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50876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764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Salary Tracker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1344" y="20574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salary history. Chart personal trajectory vs ONS median 2015–2026.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9260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201168" cy="201168"/>
          </a:xfrm>
          <a:prstGeom prst="ellipse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Trends 2015–2023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6576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nominal salary growth across all occupations. CPI-adjusted CAGR.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1568" y="3108960"/>
            <a:ext cx="201168" cy="201168"/>
          </a:xfrm>
          <a:prstGeom prst="ellipse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Pay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28416" y="36576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ONS-formula gap by occupation and region. Historical 2015–2026 trend.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53328" y="2926080"/>
            <a:ext cx="27066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54496" y="310896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33649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Pay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65760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team CSV. Equity flags, gender pay gap vs ONS, compliance-ready report.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independent sources. One clear picture.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3977640" cy="64008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OFFICIAL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Survey of Hours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Earnings (ASHE)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UK government's most comprehensive earnings survey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all employed workers across the UK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Published annually — Open Government Licence v3.0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 SOC occupation groups · 11 UK regions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2015–2023 historical trend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41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Source: NM_99_1 · NOMIS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28016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80160"/>
            <a:ext cx="39776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Adzuna Live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Listings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2395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250,000+ UK job listings indexed daily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724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Sourced from employer sites and job 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Salary ranges from postings with disclosed pay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City-level and occupation-specific search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Updated daily — reflects current market rates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041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tier API — scalable to enterprise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INDIVIDUALS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worth. Negotiate with evidence.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804672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your salary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job title, region and experience. See your ONS fair range and the current Adzuna market median side by side — instantly.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21992"/>
            <a:ext cx="54864" cy="804672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04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fairness verdict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6243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"Underpaid", "Fair", or "Above market" — backed by ONS ASHE 2023. If underpaid, see exactly how much and by how much.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18104"/>
            <a:ext cx="54864" cy="804672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0098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227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brief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52044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a structured negotiation document with ONS data, market evidence, and ready-to-use talking points.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14216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14216"/>
            <a:ext cx="54864" cy="804672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970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1239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progress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416552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salary over time. Chart your personal trajectory against the ONS median for your occupation — projected to 2026.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ORGANISATIONS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Equitable pay. Defensible decisions.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54864" cy="1600200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Equity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3794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roles and salaries. Each row is benchmarked against ONS. Equity flags raised where salary is significantly below the ONS lower bound.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1728" y="13258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325880"/>
            <a:ext cx="54864" cy="160020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4904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Pay Gap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82896" y="183794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contextualise your organisation's pay gap against ONS industry figures — supporting UK mandatory reporting and equity initiatives.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1089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3108960"/>
            <a:ext cx="54864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735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Benchmarking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62102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every role across all 11 UK regions with live market comparison. Set competitive pay ranges that attract talent.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31089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3108960"/>
            <a:ext cx="54864" cy="1600200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2735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362102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formatted report for HR, finance, or board — with role-by-role analysis, verdicts, and recommendations in CSV format.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precision. Ready to scale.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65960" cy="1371600"/>
          </a:xfrm>
          <a:prstGeom prst="rect">
            <a:avLst/>
          </a:prstGeom>
          <a:solidFill>
            <a:srgbClr val="1E4F8C">
              <a:alpha val="15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184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21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Occupation Groups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965960" cy="1371600"/>
          </a:xfrm>
          <a:prstGeom prst="rect">
            <a:avLst/>
          </a:prstGeom>
          <a:solidFill>
            <a:srgbClr val="7C6FCD">
              <a:alpha val="15000"/>
            </a:srgbClr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184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221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Regions Covered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1965960" cy="13716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184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2221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Titles Mapped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417320"/>
            <a:ext cx="1965960" cy="1371600"/>
          </a:xfrm>
          <a:prstGeom prst="rect">
            <a:avLst/>
          </a:prstGeom>
          <a:solidFill>
            <a:srgbClr val="1E4F8C">
              <a:alpha val="15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184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2219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History From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1965960" cy="13716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17520"/>
            <a:ext cx="19659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186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1480" y="38221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 Market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3017520"/>
            <a:ext cx="1965960" cy="1371600"/>
          </a:xfrm>
          <a:prstGeom prst="rect">
            <a:avLst/>
          </a:prstGeom>
          <a:solidFill>
            <a:srgbClr val="7C6FCD">
              <a:alpha val="15000"/>
            </a:srgbClr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017520"/>
            <a:ext cx="196596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2186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560320" y="38221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017520"/>
            <a:ext cx="1965960" cy="1371600"/>
          </a:xfrm>
          <a:prstGeom prst="rect">
            <a:avLst/>
          </a:prstGeom>
          <a:solidFill>
            <a:srgbClr val="1E4F8C">
              <a:alpha val="15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017520"/>
            <a:ext cx="1965960" cy="54864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2186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709160" y="38221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3017520"/>
            <a:ext cx="1965960" cy="13716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3017520"/>
            <a:ext cx="19659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186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58000" y="38221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Open Government Data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work together.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1097280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1E4F8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" y="1417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74650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white-label salary benchmark in your candidate portal. Help candidates negotiate confidently with ONS-backed data — increasing placements and candidate satisfaction.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377440" cy="731520"/>
          </a:xfrm>
          <a:prstGeom prst="rect">
            <a:avLst/>
          </a:prstGeom>
          <a:solidFill>
            <a:srgbClr val="1E4F8C">
              <a:alpha val="10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554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integration · Candidate value-add · Placement uplift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54864" cy="1097280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7C6FC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" y="26517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Platforms (Reed, Indeed, LinkedIn)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9809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salary transparency to every job listing. Differentiate from competitors with ONS-verified salary bands shown alongside your adverts. API integration available.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377440" cy="731520"/>
          </a:xfrm>
          <a:prstGeom prst="rect">
            <a:avLst/>
          </a:prstGeom>
          <a:solidFill>
            <a:srgbClr val="7C6FCD">
              <a:alpha val="10000"/>
            </a:srgbClr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partnership · Salary transparency · User trust &amp; retention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94760"/>
            <a:ext cx="54864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14800"/>
            <a:ext cx="457200" cy="4572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42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70432" y="38862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Software &amp; ATS Providers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21538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our benchmark API into your compensation module. Give HR teams real-time ONS + market data without leaving your platform.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2377440" cy="731520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023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licensing · Compensation module · B2B SaaS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explore or partner?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want to embed a benchmark tool, explore a data partnership,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discuss how SalaryAxis can integrate into your platform — get in touch.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65960" cy="914400"/>
          </a:xfrm>
          <a:prstGeom prst="rect">
            <a:avLst/>
          </a:prstGeom>
          <a:solidFill>
            <a:srgbClr val="1E4F8C">
              <a:alpha val="15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1965960" cy="54864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42316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670048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shaz.moghaddam@gmail.com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2331720"/>
            <a:ext cx="1965960" cy="914400"/>
          </a:xfrm>
          <a:prstGeom prst="rect">
            <a:avLst/>
          </a:prstGeom>
          <a:solidFill>
            <a:srgbClr val="7C6FCD">
              <a:alpha val="15000"/>
            </a:srgbClr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2331720"/>
            <a:ext cx="1965960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42316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96896" y="2670048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linkedin.com/in/shazmoghaddam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2331720"/>
            <a:ext cx="1965960" cy="9144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2331720"/>
            <a:ext cx="19659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42316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18304" y="2670048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github.com/ShazMoghaddam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9984" y="2331720"/>
            <a:ext cx="1965960" cy="914400"/>
          </a:xfrm>
          <a:prstGeom prst="rect">
            <a:avLst/>
          </a:prstGeom>
          <a:solidFill>
            <a:srgbClr val="1E4F8C">
              <a:alpha val="15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2331720"/>
            <a:ext cx="1965960" cy="54864"/>
          </a:xfrm>
          <a:prstGeom prst="rect">
            <a:avLst/>
          </a:prstGeom>
          <a:solidFill>
            <a:srgbClr val="1E4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42316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670048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shazmoghaddam.github.io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London, UK  ·  Available to collaborate internationally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UK Salary Intelligence Platform  ·  ONS ASHE · Adzuna Live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SalaryAxis — UK Salary Intelligence Platform</dc:title>
  <dc:subject>Investor &amp; Partner Pitch Deck</dc:subject>
  <dc:creator>Shaz Moghaddam</dc:creator>
  <cp:lastModifiedBy>Shaz Moghaddam</cp:lastModifiedBy>
  <cp:revision>1</cp:revision>
  <dcterms:created xsi:type="dcterms:W3CDTF">2026-05-08T08:55:44Z</dcterms:created>
  <dcterms:modified xsi:type="dcterms:W3CDTF">2026-05-08T08:55:44Z</dcterms:modified>
</cp:coreProperties>
</file>